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16"/>
    <p:sldId id="266" r:id="rId17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8.xml"/><Relationship Id="rId17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Elastic Net Logistic Regression</c:v>
                </c:pt>
              </c:strCache>
            </c:strRef>
          </c:tx>
          <c:spPr>
            <a:solidFill>
              <a:srgbClr val="1E2761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ROC-AUC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0.83</c:v>
                </c:pt>
                <c:pt idx="1">
                  <c:v>0.8</c:v>
                </c:pt>
                <c:pt idx="2">
                  <c:v>0.78</c:v>
                </c:pt>
                <c:pt idx="3">
                  <c:v>0.79</c:v>
                </c:pt>
                <c:pt idx="4">
                  <c:v>0.86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Plain Logistic Regression</c:v>
                </c:pt>
              </c:strCache>
            </c:strRef>
          </c:tx>
          <c:spPr>
            <a:solidFill>
              <a:srgbClr val="3E63C7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ROC-AUC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0.79</c:v>
                </c:pt>
                <c:pt idx="1">
                  <c:v>0.74</c:v>
                </c:pt>
                <c:pt idx="2">
                  <c:v>0.72</c:v>
                </c:pt>
                <c:pt idx="3">
                  <c:v>0.73</c:v>
                </c:pt>
                <c:pt idx="4">
                  <c:v>0.81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Decision Tree</c:v>
                </c:pt>
              </c:strCache>
            </c:strRef>
          </c:tx>
          <c:spPr>
            <a:solidFill>
              <a:srgbClr val="9BA9D6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ROC-AUC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0.76</c:v>
                </c:pt>
                <c:pt idx="1">
                  <c:v>0.71</c:v>
                </c:pt>
                <c:pt idx="2">
                  <c:v>0.7</c:v>
                </c:pt>
                <c:pt idx="3">
                  <c:v>0.7</c:v>
                </c:pt>
                <c:pt idx="4">
                  <c:v>0.75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3DDC97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ROC-AUC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0.82</c:v>
                </c:pt>
                <c:pt idx="1">
                  <c:v>0.78</c:v>
                </c:pt>
                <c:pt idx="2">
                  <c:v>0.76</c:v>
                </c:pt>
                <c:pt idx="3">
                  <c:v>0.77</c:v>
                </c:pt>
                <c:pt idx="4">
                  <c:v>0.84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ADCFC"/>
            </a:solidFill>
          </a:ln>
        </c:spPr>
        <c:txPr>
          <a:bodyPr/>
          <a:lstStyle/>
          <a:p>
            <a:pPr>
              <a:defRPr sz="1100">
                <a:solidFill>
                  <a:srgbClr val="141B4D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 w="6350">
              <a:solidFill>
                <a:srgbClr val="CADCF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A6072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5A6072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coefficient magnitude</c:v>
                </c:pt>
              </c:strCache>
            </c:strRef>
          </c:tx>
          <c:spPr>
            <a:solidFill>
              <a:srgbClr val="3DDC97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Customer tenure</c:v>
                </c:pt>
                <c:pt idx="1">
                  <c:v>Monthly charges</c:v>
                </c:pt>
                <c:pt idx="2">
                  <c:v>Contract type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</c:v>
                </c:pt>
                <c:pt idx="1">
                  <c:v>84</c:v>
                </c:pt>
                <c:pt idx="2">
                  <c:v>100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1">
                  <a:solidFill>
                    <a:srgbClr val="141B4D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ADCFC"/>
            </a:solidFill>
          </a:ln>
        </c:spPr>
        <c:txPr>
          <a:bodyPr/>
          <a:lstStyle/>
          <a:p>
            <a:pPr>
              <a:defRPr sz="1200">
                <a:solidFill>
                  <a:srgbClr val="141B4D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232C6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PROJECT REPORT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2880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Prediction Using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 Net Regularized Logistic Regression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03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L1 + L2 regularized approach for interpretable, generalizable churn prediction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434840"/>
            <a:ext cx="2011680" cy="0"/>
          </a:xfrm>
          <a:prstGeom prst="line">
            <a:avLst/>
          </a:prstGeom>
          <a:noFill/>
          <a:ln w="38100">
            <a:solidFill>
              <a:srgbClr val="3DDC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7091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CH.V.S. Manikanta Varma Raju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(Roll No. 2520030239)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Ishaan Manish Kulkarni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(Roll No. 2520030267)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Shaik Asif, Assistant Professor, CSE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Koneru Lakshmaiah Education Foundation (KLH), A.Y. 2026-27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customer churn matters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412480" y="1463040"/>
            <a:ext cx="3291840" cy="3291840"/>
          </a:xfrm>
          <a:prstGeom prst="ellipse">
            <a:avLst/>
          </a:prstGeom>
          <a:solidFill>
            <a:srgbClr val="F4F6FB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5–7x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29718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costlier to acquire a new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than retain one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6002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9659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directly erodes recurring revenue in subscription, telecom, banking and e-commerce businesses.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0175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methods fall short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3832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rules and simple statistical summaries miss complex, non-linear churn patterns.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480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4348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early, accurate flags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8006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at-risk customers early lets teams design targeted, proactive retention strategies.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· Elastic Net Logistic Regression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051560"/>
            <a:ext cx="1463040" cy="0"/>
          </a:xfrm>
          <a:prstGeom prst="line">
            <a:avLst/>
          </a:prstGeom>
          <a:noFill/>
          <a:ln w="38100">
            <a:solidFill>
              <a:srgbClr val="3DDC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141B4D"/>
          </a:solidFill>
          <a:ln w="12700">
            <a:solidFill>
              <a:srgbClr val="3651A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60020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in subscription-driven and service-oriented industries — telecommunications, banking, e-commerce — struggle to identify, ahead of time, which customers are likely to discontinue their service. Existing approaches either rely on simple statistical rules that miss non-linear behavioral patterns, or on complex black-box models that sacrifice interpretability, leaving analysts unable to explain why a customer is at risk.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challenges this project addresses: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232C68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858768"/>
            <a:ext cx="365760" cy="36576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858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78561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High-dimensional, correlated features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13308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usage, tenure and subscription attributes are numerous and often collinear, destabilizing standard logistic regression.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365760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232C68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3858768"/>
            <a:ext cx="365760" cy="36576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3858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378561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on customer data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413308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without proper regularization generalize poorly to new, unseen customers.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232C68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5276088"/>
            <a:ext cx="365760" cy="36576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5276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20293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between accuracy and interpretability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55040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stakeholders need to know not just who will churn, but why — ruling out purely black-box models.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50749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232C68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0" y="5276088"/>
            <a:ext cx="365760" cy="36576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0" y="5276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520293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real-time, actionable flags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555040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teams require a deployable model that scores at-risk customers early enough to intervene.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· Elastic Net Logistic Regression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Elastic Net Regularization?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the strengths of L1 (Lasso) and L2 (Ridge) penalties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· Lasso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31546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sparsity — automatically shrinks irrelevant coefficients to zero, performing built-in feature selection.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155448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3651A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63440" y="17830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· Ridge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286000"/>
            <a:ext cx="31546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Stabilizes coefficient estimates and handles multicollinearity among correlated predictors.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21040" y="155448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3DDC97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549640" y="17830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+ L2 · Elastic Net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549640" y="2286000"/>
            <a:ext cx="31546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both via mixing parameter α and regularization strength λ, tuned through cross-validation.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3434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 customer behavioral data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70916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datasets mix demographic, transactional, and service-usage features — usage patterns, billing history, tenure, and subscriptions — which are often highly correlated. Elastic Net's hybrid penalty selects the most influential predictors while remaining stable under this collinearity, producing a model that is both accurate and interpretable.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· Elastic Net Logistic Regression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Pipeline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actionable churn predictions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303020" y="1783080"/>
            <a:ext cx="548640" cy="548640"/>
          </a:xfrm>
          <a:prstGeom prst="ellipse">
            <a:avLst/>
          </a:prstGeom>
          <a:solidFill>
            <a:srgbClr val="3DDC9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0302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23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16352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encode categorical variables, standardize numeric features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15184" y="2862072"/>
            <a:ext cx="118872" cy="219456"/>
          </a:xfrm>
          <a:prstGeom prst="rightArrow">
            <a:avLst/>
          </a:prstGeom>
          <a:solidFill>
            <a:srgbClr val="5A6072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210312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3651A3"/>
          </a:solidFill>
          <a:ln/>
        </p:spPr>
      </p:sp>
      <p:sp>
        <p:nvSpPr>
          <p:cNvPr id="11" name="Shape 9"/>
          <p:cNvSpPr/>
          <p:nvPr/>
        </p:nvSpPr>
        <p:spPr>
          <a:xfrm>
            <a:off x="3497580" y="1783080"/>
            <a:ext cx="548640" cy="548640"/>
          </a:xfrm>
          <a:prstGeom prst="ellipse">
            <a:avLst/>
          </a:prstGeom>
          <a:solidFill>
            <a:srgbClr val="3DDC9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9758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2423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2816352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into training and testing subsets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9744" y="2862072"/>
            <a:ext cx="118872" cy="219456"/>
          </a:xfrm>
          <a:prstGeom prst="rightArrow">
            <a:avLst/>
          </a:prstGeom>
          <a:solidFill>
            <a:srgbClr val="5A6072"/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0" y="210312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5692140" y="1783080"/>
            <a:ext cx="548640" cy="548640"/>
          </a:xfrm>
          <a:prstGeom prst="ellipse">
            <a:avLst/>
          </a:prstGeom>
          <a:solidFill>
            <a:srgbClr val="3DDC9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9214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74920" y="2423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074920" y="2816352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 to tune λ (strength) and α (L1/L2 mix)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04304" y="2862072"/>
            <a:ext cx="118872" cy="219456"/>
          </a:xfrm>
          <a:prstGeom prst="rightArrow">
            <a:avLst/>
          </a:prstGeom>
          <a:solidFill>
            <a:srgbClr val="5A6072"/>
          </a:solidFill>
          <a:ln/>
        </p:spPr>
      </p:sp>
      <p:sp>
        <p:nvSpPr>
          <p:cNvPr id="22" name="Shape 20"/>
          <p:cNvSpPr/>
          <p:nvPr/>
        </p:nvSpPr>
        <p:spPr>
          <a:xfrm>
            <a:off x="7132320" y="210312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3651A3"/>
          </a:solidFill>
          <a:ln/>
        </p:spPr>
      </p:sp>
      <p:sp>
        <p:nvSpPr>
          <p:cNvPr id="23" name="Shape 21"/>
          <p:cNvSpPr/>
          <p:nvPr/>
        </p:nvSpPr>
        <p:spPr>
          <a:xfrm>
            <a:off x="7886700" y="1783080"/>
            <a:ext cx="548640" cy="548640"/>
          </a:xfrm>
          <a:prstGeom prst="ellipse">
            <a:avLst/>
          </a:prstGeom>
          <a:solidFill>
            <a:srgbClr val="3DDC9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8670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269480" y="2423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2816352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Elastic Net regularized logistic regression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98864" y="2862072"/>
            <a:ext cx="118872" cy="219456"/>
          </a:xfrm>
          <a:prstGeom prst="rightArrow">
            <a:avLst/>
          </a:prstGeom>
          <a:solidFill>
            <a:srgbClr val="5A6072"/>
          </a:solidFill>
          <a:ln/>
        </p:spPr>
      </p:sp>
      <p:sp>
        <p:nvSpPr>
          <p:cNvPr id="28" name="Shape 26"/>
          <p:cNvSpPr/>
          <p:nvPr/>
        </p:nvSpPr>
        <p:spPr>
          <a:xfrm>
            <a:off x="9326880" y="210312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81260" y="1783080"/>
            <a:ext cx="548640" cy="548640"/>
          </a:xfrm>
          <a:prstGeom prst="ellipse">
            <a:avLst/>
          </a:prstGeom>
          <a:solidFill>
            <a:srgbClr val="3DDC9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8126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464040" y="2423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464040" y="2816352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F1-score, ROC-AUC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297680"/>
            <a:ext cx="11064240" cy="1645920"/>
          </a:xfrm>
          <a:prstGeom prst="roundRect">
            <a:avLst>
              <a:gd name="adj" fmla="val 5556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868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against: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566160" y="452628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566160" y="45262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Logistic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309360" y="452628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09360" y="45262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9052560" y="452628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052560" y="45262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· Elastic Net Logistic Regression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&amp; Tools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 used for implementation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141B4D"/>
          </a:solidFill>
          <a:ln w="12700">
            <a:solidFill>
              <a:srgbClr val="3651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384048" cy="38404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0195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1284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141B4D"/>
          </a:solidFill>
          <a:ln w="12700">
            <a:solidFill>
              <a:srgbClr val="3651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965960"/>
            <a:ext cx="384048" cy="38404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90195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21284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pandas, NumPy, Matplotlib, Seaborn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141B4D"/>
          </a:solidFill>
          <a:ln w="12700">
            <a:solidFill>
              <a:srgbClr val="3651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383280"/>
            <a:ext cx="384048" cy="38404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31927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63016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/ Google Colab / VS Code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31546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141B4D"/>
          </a:solidFill>
          <a:ln w="12700">
            <a:solidFill>
              <a:srgbClr val="3651A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383280"/>
            <a:ext cx="384048" cy="38404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331927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363016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and GitHub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141B4D"/>
          </a:solidFill>
          <a:ln w="12700">
            <a:solidFill>
              <a:srgbClr val="3651A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800600"/>
            <a:ext cx="384048" cy="38404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4800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73659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04748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10/11, Linux, or macOS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263640" y="457200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141B4D"/>
          </a:solidFill>
          <a:ln w="12700">
            <a:solidFill>
              <a:srgbClr val="3651A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4800600"/>
            <a:ext cx="384048" cy="38404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92240" y="4800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473659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504748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Dataset (CSV)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· Elastic Net Logistic Regression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&amp; Insights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delivers to business stakeholders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Drivers Identified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146304" cy="14630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13969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880360"/>
            <a:ext cx="146304" cy="14630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273405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3474720"/>
            <a:ext cx="146304" cy="14630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32841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tenure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1605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predictors carry the largest, most stable coefficients under Elastic Net's feature selection — giving analysts a clear, ranked view of what drives attrition.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50876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Value Proposition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92240" y="22860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DDC9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286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224028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interpretable &amp; generalizable than plain logistic regression, decision trees, or random forests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315468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DDC9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3154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310896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overfitting on high-dimensional customer data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DDC9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0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9776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loss in predictive performance vs. black-box models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48920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DDC9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92240" y="4892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84632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in a CRM pipeline to flag at-risk customers in real time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· Elastic Net Logistic Regression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mbria"/>
              </a:rPr>
              <a:t>Projected 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A6072"/>
                </a:solidFill>
                <a:latin typeface="Calibri"/>
              </a:rPr>
              <a:t>Expected relative performance vs. benchmark classifiers (illustrative, pending experimental validation)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00200"/>
          <a:ext cx="110642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72"/>
                </a:solidFill>
                <a:latin typeface="Calibri"/>
              </a:rPr>
              <a:t>Customer Churn Prediction · Elastic Net Logistic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0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Cambria"/>
              </a:rPr>
              <a:t>Top Churn Drivers — Relative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A6072"/>
                </a:solidFill>
                <a:latin typeface="Calibri"/>
              </a:rPr>
              <a:t>Illustrative ranking of predictors with the largest, most stable Elastic Net coefficients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00200"/>
          <a:ext cx="76809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503920" y="1600200"/>
            <a:ext cx="3108960" cy="448056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/>
            <a:r>
              <a:rPr b="1" sz="1300">
                <a:solidFill>
                  <a:srgbClr val="1E2761"/>
                </a:solidFill>
                <a:latin typeface="Calibri"/>
              </a:rPr>
              <a:t>Reading the chart</a:t>
            </a:r>
          </a:p>
          <a:p>
            <a:pPr algn="l">
              <a:spcBef>
                <a:spcPts val="800"/>
              </a:spcBef>
            </a:pPr>
            <a:r>
              <a:rPr sz="1150">
                <a:solidFill>
                  <a:srgbClr val="5A6072"/>
                </a:solidFill>
                <a:latin typeface="Calibri"/>
              </a:rPr>
              <a:t>Bars show each driver's coefficient size relative to the strongest predictor, scaled to 100.</a:t>
            </a:r>
          </a:p>
          <a:p>
            <a:pPr algn="l">
              <a:spcBef>
                <a:spcPts val="800"/>
              </a:spcBef>
            </a:pPr>
            <a:r>
              <a:rPr sz="1150">
                <a:solidFill>
                  <a:srgbClr val="5A6072"/>
                </a:solidFill>
                <a:latin typeface="Calibri"/>
              </a:rPr>
              <a:t>Contract type, monthly charges and tenure carry the largest, most stable weights under Elastic Net's feature selection.</a:t>
            </a:r>
          </a:p>
          <a:p>
            <a:pPr algn="l">
              <a:spcBef>
                <a:spcPts val="800"/>
              </a:spcBef>
            </a:pPr>
            <a:r>
              <a:rPr sz="1150">
                <a:solidFill>
                  <a:srgbClr val="5A6072"/>
                </a:solidFill>
                <a:latin typeface="Calibri"/>
              </a:rPr>
              <a:t>Exact magnitudes depend on the trained model and will be confirmed once results are available.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72"/>
                </a:solidFill>
                <a:latin typeface="Calibri"/>
              </a:rPr>
              <a:t>Customer Churn Prediction · Elastic Net 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0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Research References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informing this project's approach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57276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Arivazhagan, B. &amp; Sankara Subramanian, R.S. "Customer Churn Prediction using Logistic Regression with Regularization and Optimization Technique." IJITEE, Vol. 9, Issue 9, 2020.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48640" y="2148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12140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"Logistic Regression for Merchant Customer Churn Prediction: A Data-Driven Approach." Proc. 2024 7th Int'l Conf. on Machine Learning and Machine Intelligence (MLMI), ACM, 2024.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4864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"Classifying Variety of Customer's Online Engagement for Churn Prediction with Mixed-Penalty Logistic Regression." arXiv:2105.07671.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54864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1868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"Research on E-commerce User Churn Prediction Based on Logistic Regression." IEEE Xplore Conference Publication.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4864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76732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"Prediction Modeling and Analysis for Telecom Customer Churn in Two Months." arXiv:1911.00558 (LR, SVM &amp; Random Forest comparison).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548640" y="4343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431596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Neural Network Based Approach for Predicting Customer Churn in Cellular Network Services." arXiv:1309.3945 (literature survey table).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548640" y="4892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86460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Copaceanu, A.-M. "Churn Prediction in Telecommunications Sector Using Machine Learning." Database Systems Journal, Vol. 12(1), 2021.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4406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548640" y="5440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54132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et al. "Customer Churn Prediction Using Machine Learning Models." J. Eng. Res. Rep., Vol. 26(2), pp. 181-193, 2024.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 · Elastic Net Logistic Regression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754880"/>
            <a:ext cx="3657600" cy="3657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468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166360" y="4023360"/>
            <a:ext cx="18288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251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CH.V.S. Manikanta Varma Raju  ·  Ishaan Manish Kulkarni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Engineering, KLH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2026-08-29T04:52:23Z</dcterms:created>
  <dcterms:modified xsi:type="dcterms:W3CDTF">2026-08-29T04:52:23Z</dcterms:modified>
</cp:coreProperties>
</file>